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144"/>
          </a:xfrm>
          <a:prstGeom prst="rect">
            <a:avLst/>
          </a:prstGeom>
          <a:solidFill>
            <a:srgbClr val="D92525"/>
          </a:solidFill>
          <a:ln/>
        </p:spPr>
      </p:sp>
      <p:sp>
        <p:nvSpPr>
          <p:cNvPr id="4" name="Shape 1"/>
          <p:cNvSpPr/>
          <p:nvPr/>
        </p:nvSpPr>
        <p:spPr>
          <a:xfrm>
            <a:off x="8708231" y="285750"/>
            <a:ext cx="7144" cy="142875"/>
          </a:xfrm>
          <a:prstGeom prst="rect">
            <a:avLst/>
          </a:prstGeom>
          <a:solidFill>
            <a:srgbClr val="D9252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269802"/>
            <a:ext cx="828675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PANGSUMA FOOTBALL CLUB · OPS REPORT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1791295"/>
            <a:ext cx="642937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F9F8F6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OPERASIONAL RAPI.</a:t>
            </a:r>
            <a:r>
              <a:rPr lang="en-US" sz="4150" b="1" dirty="0">
                <a:solidFill>
                  <a:srgbClr val="F9F8F6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
</a:t>
            </a:r>
            <a:r>
              <a:rPr lang="en-US" sz="4150" b="1" dirty="0">
                <a:solidFill>
                  <a:srgbClr val="F9F8F6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KEPUTUSAN LEBIH SIAP.</a:t>
            </a:r>
            <a:endParaRPr lang="en-US" sz="4150" dirty="0"/>
          </a:p>
        </p:txBody>
      </p:sp>
      <p:sp>
        <p:nvSpPr>
          <p:cNvPr id="7" name="Text 4"/>
          <p:cNvSpPr/>
          <p:nvPr/>
        </p:nvSpPr>
        <p:spPr>
          <a:xfrm>
            <a:off x="428625" y="3191470"/>
            <a:ext cx="4286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9F8F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Transformasi manajemen keuangan klub dari chat tersebar menjadi satu alur audit yang presisi.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28625" y="4582716"/>
            <a:ext cx="251102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9F8F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PROPOSAL PENGEMBANGAN PANGSUMAAPP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675959" y="4546997"/>
            <a:ext cx="103941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F9F8F6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VERSI 2026.10.20.2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144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4" name="Shape 1"/>
          <p:cNvSpPr/>
          <p:nvPr/>
        </p:nvSpPr>
        <p:spPr>
          <a:xfrm>
            <a:off x="8708231" y="285750"/>
            <a:ext cx="7144" cy="142875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571500"/>
            <a:ext cx="828675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DARI CHAT TERPISAH KE ALUR YANG BISA DITELUSURI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28625" y="1525191"/>
            <a:ext cx="1682353" cy="33932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MASALAH OPERASIONAL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28625" y="2078831"/>
            <a:ext cx="1405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×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76312" y="2078831"/>
            <a:ext cx="36099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Bukti transaksi tercecer di berbagai grup chat dan memori pribadi.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2657475"/>
            <a:ext cx="1514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×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7195" y="2657475"/>
            <a:ext cx="35990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Proses follow-up manual yang memakan waktu dan berulang.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8625" y="3236119"/>
            <a:ext cx="1447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×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0498" y="3236119"/>
            <a:ext cx="36057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Risiko ketidaksesuaian data karena penyalinan manual berulang.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8625" y="3814763"/>
            <a:ext cx="1486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×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4461" y="3814763"/>
            <a:ext cx="36017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Kesulitan audit riwayat pengeluaran per kategori secara cepat.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57750" y="1525191"/>
            <a:ext cx="1610916" cy="33932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SOLUSI PANGSUMAAPP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857750" y="2078831"/>
            <a:ext cx="1356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00582" y="2078831"/>
            <a:ext cx="36147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Satu repositori pusat untuk semua bukti foto dan dokumen transaksi.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57750" y="2657475"/>
            <a:ext cx="1408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105772" y="2657475"/>
            <a:ext cx="360960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Status real-time untuk memudahkan monitoring dan akuntabilitas.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57750" y="3236119"/>
            <a:ext cx="1401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105102" y="3236119"/>
            <a:ext cx="361027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Referensi ID unik yang menyambungkan bukti dengan pembukuan.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57750" y="3814763"/>
            <a:ext cx="16000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4915" y="3814763"/>
            <a:ext cx="35904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Laporan PDF otomatis yang mengikuti kronologi buku kas.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28625" y="4597003"/>
            <a:ext cx="82867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B192C">
                    <a:alpha val="60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PANGSUMA FC · MANUS SLIDES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144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4" name="Shape 1"/>
          <p:cNvSpPr/>
          <p:nvPr/>
        </p:nvSpPr>
        <p:spPr>
          <a:xfrm>
            <a:off x="8708231" y="285750"/>
            <a:ext cx="7144" cy="142875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571500"/>
            <a:ext cx="828675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DUA PERAN, SATU ALUR KERJA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28625" y="1382316"/>
            <a:ext cx="1714500" cy="571500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382316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9F8F6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USER (STAF)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428875" y="1382316"/>
            <a:ext cx="1904981" cy="571500"/>
          </a:xfrm>
          <a:prstGeom prst="rect">
            <a:avLst/>
          </a:prstGeom>
          <a:solidFill>
            <a:srgbClr val="F9F8F6"/>
          </a:solidFill>
          <a:ln w="18288">
            <a:solidFill>
              <a:srgbClr val="0B19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28875" y="1382316"/>
            <a:ext cx="1904981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92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Input Pengajuan (PC/RF)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9606" y="1382316"/>
            <a:ext cx="1904981" cy="571500"/>
          </a:xfrm>
          <a:prstGeom prst="rect">
            <a:avLst/>
          </a:prstGeom>
          <a:solidFill>
            <a:srgbClr val="F9F8F6"/>
          </a:solidFill>
          <a:ln w="18288">
            <a:solidFill>
              <a:srgbClr val="0B19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19606" y="1382316"/>
            <a:ext cx="1904981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92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Upload Bukti Foto/File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10338" y="1382316"/>
            <a:ext cx="1904981" cy="571500"/>
          </a:xfrm>
          <a:prstGeom prst="rect">
            <a:avLst/>
          </a:prstGeom>
          <a:solidFill>
            <a:srgbClr val="F9F8F6"/>
          </a:solidFill>
          <a:ln w="18288">
            <a:solidFill>
              <a:srgbClr val="0B19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10338" y="1382316"/>
            <a:ext cx="1904981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92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Pantau Status &amp; Riwayat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8625" y="2668191"/>
            <a:ext cx="1714500" cy="571500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15" name="Text 12"/>
          <p:cNvSpPr/>
          <p:nvPr/>
        </p:nvSpPr>
        <p:spPr>
          <a:xfrm>
            <a:off x="428625" y="2668191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9F8F6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MANAGER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428875" y="2668191"/>
            <a:ext cx="1904981" cy="571500"/>
          </a:xfrm>
          <a:prstGeom prst="rect">
            <a:avLst/>
          </a:prstGeom>
          <a:solidFill>
            <a:srgbClr val="F9F8F6"/>
          </a:solidFill>
          <a:ln w="18288">
            <a:solidFill>
              <a:srgbClr val="D9252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28875" y="2668191"/>
            <a:ext cx="1904981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Tinjau &amp; Verifikasi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19606" y="2668191"/>
            <a:ext cx="1904981" cy="571500"/>
          </a:xfrm>
          <a:prstGeom prst="rect">
            <a:avLst/>
          </a:prstGeom>
          <a:solidFill>
            <a:srgbClr val="F9F8F6"/>
          </a:solidFill>
          <a:ln w="18288">
            <a:solidFill>
              <a:srgbClr val="D9252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19606" y="2668191"/>
            <a:ext cx="1904981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Approve / Reject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10338" y="2668191"/>
            <a:ext cx="1904981" cy="571500"/>
          </a:xfrm>
          <a:prstGeom prst="rect">
            <a:avLst/>
          </a:prstGeom>
          <a:solidFill>
            <a:srgbClr val="F9F8F6"/>
          </a:solidFill>
          <a:ln w="18288">
            <a:solidFill>
              <a:srgbClr val="D9252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10338" y="2668191"/>
            <a:ext cx="1904981" cy="57150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Laporan &amp; Ledger PDF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8625" y="4432697"/>
            <a:ext cx="8286750" cy="2821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4432697"/>
            <a:ext cx="8286750" cy="7144"/>
          </a:xfrm>
          <a:prstGeom prst="rect">
            <a:avLst/>
          </a:prstGeom>
          <a:solidFill>
            <a:srgbClr val="F4F1EE"/>
          </a:solidFill>
          <a:ln/>
        </p:spPr>
      </p:sp>
      <p:sp>
        <p:nvSpPr>
          <p:cNvPr id="24" name="Text 21"/>
          <p:cNvSpPr/>
          <p:nvPr/>
        </p:nvSpPr>
        <p:spPr>
          <a:xfrm>
            <a:off x="428625" y="4432697"/>
            <a:ext cx="8286750" cy="28217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B192C">
                    <a:alpha val="70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*Manager memiliki kontrol penuh atas saldo kas dan manajemen pengguna.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171450"/>
            <a:ext cx="8572500" cy="7144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4" name="Shape 1"/>
          <p:cNvSpPr/>
          <p:nvPr/>
        </p:nvSpPr>
        <p:spPr>
          <a:xfrm>
            <a:off x="8851106" y="157163"/>
            <a:ext cx="7144" cy="114300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342900"/>
            <a:ext cx="85725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MANAGER MELIHAT PRIORITAS DARI HP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35769" y="1643955"/>
            <a:ext cx="587930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DASHBOARD MANAGER TERPADU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35769" y="1890415"/>
            <a:ext cx="5857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Ringkasan saldo kas saat ini dan daftar persetujuan yang tertunda langsung di layar utama.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35769" y="2188666"/>
            <a:ext cx="587930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MANAJEMEN SALDO KAS KECIL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35769" y="2435126"/>
            <a:ext cx="5857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Fitur "Tambah Kas" terintegrasi tepat di bawah saldo untuk kemudahan top-up operasional.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35769" y="2733377"/>
            <a:ext cx="587930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AKSES PENGGUNA &amp; PROFIL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35769" y="2979837"/>
            <a:ext cx="5857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 profil dan kelola hak akses anggota tim melalui menu Pengguna yang telah disederhanakan.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746522"/>
            <a:ext cx="228600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4028" y="140018"/>
            <a:ext cx="8513064" cy="7001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4" name="Shape 1"/>
          <p:cNvSpPr/>
          <p:nvPr/>
        </p:nvSpPr>
        <p:spPr>
          <a:xfrm>
            <a:off x="8730092" y="140018"/>
            <a:ext cx="7001" cy="112014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5" name="Text 2"/>
          <p:cNvSpPr/>
          <p:nvPr/>
        </p:nvSpPr>
        <p:spPr>
          <a:xfrm>
            <a:off x="224028" y="308039"/>
            <a:ext cx="8513064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PENGAJUAN LENGKAP, TINDAK LANJUT LEBIH JELAS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37" y="931116"/>
            <a:ext cx="2520315" cy="36404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20403" y="1935742"/>
            <a:ext cx="5313664" cy="14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DUA JALUR PENGAJUAN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3220403" y="2131766"/>
            <a:ext cx="5313664" cy="294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Pemisahan alur Petty Cash (Kas Kecil) dan Request Finance (Permintaan Dana) untuk struktur buku kas yang lebih rapi.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220403" y="2579822"/>
            <a:ext cx="5313664" cy="14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BUKTI TRANSAKSI DIGITAL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220403" y="2775847"/>
            <a:ext cx="5313664" cy="294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Preview foto langsung saat upload memastikan bukti fisik telah didokumentasikan sebelum pengajuan dikirim.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220403" y="3223903"/>
            <a:ext cx="5313664" cy="14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0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PENCARIAN &amp; RIWAYAT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220403" y="3419928"/>
            <a:ext cx="5313664" cy="147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4444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Pencarian cerdas di seluruh halaman dengan limit 5 item per halaman untuk performa mobile yang optimal.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144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4" name="Shape 1"/>
          <p:cNvSpPr/>
          <p:nvPr/>
        </p:nvSpPr>
        <p:spPr>
          <a:xfrm>
            <a:off x="8708231" y="285750"/>
            <a:ext cx="7144" cy="142875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571500"/>
            <a:ext cx="828675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CONTOH SATU SIKLUS OPERASIONAL (DATA DEMO)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28625" y="1239441"/>
            <a:ext cx="1134070" cy="410766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635919"/>
            <a:ext cx="1134070" cy="14288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239441"/>
            <a:ext cx="1134070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TANGGAL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62695" y="1239441"/>
            <a:ext cx="2312789" cy="410766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10" name="Shape 7"/>
          <p:cNvSpPr/>
          <p:nvPr/>
        </p:nvSpPr>
        <p:spPr>
          <a:xfrm>
            <a:off x="1562695" y="1635919"/>
            <a:ext cx="2312789" cy="14288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11" name="Text 8"/>
          <p:cNvSpPr/>
          <p:nvPr/>
        </p:nvSpPr>
        <p:spPr>
          <a:xfrm>
            <a:off x="1562695" y="1239441"/>
            <a:ext cx="2312789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KETERANGAN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75484" y="1239441"/>
            <a:ext cx="1607344" cy="410766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13" name="Shape 10"/>
          <p:cNvSpPr/>
          <p:nvPr/>
        </p:nvSpPr>
        <p:spPr>
          <a:xfrm>
            <a:off x="3875484" y="1635919"/>
            <a:ext cx="1607344" cy="14288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14" name="Text 11"/>
          <p:cNvSpPr/>
          <p:nvPr/>
        </p:nvSpPr>
        <p:spPr>
          <a:xfrm>
            <a:off x="3875484" y="1239441"/>
            <a:ext cx="1607344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ID REFERENSI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2828" y="1239441"/>
            <a:ext cx="1076027" cy="410766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2828" y="1635919"/>
            <a:ext cx="1076027" cy="14288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17" name="Text 14"/>
          <p:cNvSpPr/>
          <p:nvPr/>
        </p:nvSpPr>
        <p:spPr>
          <a:xfrm>
            <a:off x="5482828" y="1239441"/>
            <a:ext cx="1076027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MASUK (RP)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558855" y="1239441"/>
            <a:ext cx="1116211" cy="410766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19" name="Shape 16"/>
          <p:cNvSpPr/>
          <p:nvPr/>
        </p:nvSpPr>
        <p:spPr>
          <a:xfrm>
            <a:off x="6558855" y="1635919"/>
            <a:ext cx="1116211" cy="14288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20" name="Text 17"/>
          <p:cNvSpPr/>
          <p:nvPr/>
        </p:nvSpPr>
        <p:spPr>
          <a:xfrm>
            <a:off x="6558855" y="1239441"/>
            <a:ext cx="1116211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KELUAR (RP)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675066" y="1239441"/>
            <a:ext cx="1040309" cy="410766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22" name="Shape 19"/>
          <p:cNvSpPr/>
          <p:nvPr/>
        </p:nvSpPr>
        <p:spPr>
          <a:xfrm>
            <a:off x="7675066" y="1635919"/>
            <a:ext cx="1040309" cy="14288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23" name="Text 20"/>
          <p:cNvSpPr/>
          <p:nvPr/>
        </p:nvSpPr>
        <p:spPr>
          <a:xfrm>
            <a:off x="7675066" y="1239441"/>
            <a:ext cx="1040309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SALDO (RP)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8625" y="1643063"/>
            <a:ext cx="1134070" cy="40719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01/10/2026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562695" y="1643063"/>
            <a:ext cx="2312789" cy="4071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Saldo Awal Periode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875484" y="1643063"/>
            <a:ext cx="1607344" cy="4071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-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482828" y="1643063"/>
            <a:ext cx="1076027" cy="40719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5.000.000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558855" y="1643063"/>
            <a:ext cx="1116211" cy="40719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-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675066" y="1643063"/>
            <a:ext cx="1040309" cy="40719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5.000.000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28625" y="2050256"/>
            <a:ext cx="1134070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05/10/2026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562695" y="2050256"/>
            <a:ext cx="2312789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Top Up Kas Kecil (Manager)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875484" y="2050256"/>
            <a:ext cx="1607344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TOPUP102026001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482828" y="2050256"/>
            <a:ext cx="1076027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2.000.000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558855" y="2050256"/>
            <a:ext cx="1116211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-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675066" y="2050256"/>
            <a:ext cx="1040309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7.000.000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28625" y="2461022"/>
            <a:ext cx="1134070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10/10/2026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562695" y="2461022"/>
            <a:ext cx="2312789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Biaya Konsumsi Latihan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875484" y="2461022"/>
            <a:ext cx="1607344" cy="41076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PC102026000001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482828" y="2461022"/>
            <a:ext cx="1076027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-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558855" y="2461022"/>
            <a:ext cx="1116211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750.000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675066" y="2461022"/>
            <a:ext cx="1040309" cy="41076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6.250.000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125766" y="3161109"/>
            <a:ext cx="12858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B192C">
                    <a:alpha val="70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PENGAJUAN PENDING (RF)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125766" y="3278981"/>
            <a:ext cx="1285875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00" dirty="0">
                <a:solidFill>
                  <a:srgbClr val="D92525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1.500.000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7697391" y="3161109"/>
            <a:ext cx="101798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B192C">
                    <a:alpha val="70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SALDO KAS SAAT INI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697391" y="3278981"/>
            <a:ext cx="1017984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70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6.250.000</a:t>
            </a:r>
            <a:endParaRPr lang="en-US" sz="1700" dirty="0"/>
          </a:p>
        </p:txBody>
      </p:sp>
      <p:sp>
        <p:nvSpPr>
          <p:cNvPr id="46" name="Text 43"/>
          <p:cNvSpPr/>
          <p:nvPr/>
        </p:nvSpPr>
        <p:spPr>
          <a:xfrm>
            <a:off x="428625" y="4597003"/>
            <a:ext cx="82867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*DATA DEMO: Simulasi angka untuk ilustrasi alur keuangan klub.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144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4" name="Shape 1"/>
          <p:cNvSpPr/>
          <p:nvPr/>
        </p:nvSpPr>
        <p:spPr>
          <a:xfrm>
            <a:off x="8708231" y="285750"/>
            <a:ext cx="7144" cy="142875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571500"/>
            <a:ext cx="828675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MANFAAT HARIAN, BULANAN, TAHUNAN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28625" y="1382316"/>
            <a:ext cx="2571750" cy="3332559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7" name="Text 4"/>
          <p:cNvSpPr/>
          <p:nvPr/>
        </p:nvSpPr>
        <p:spPr>
          <a:xfrm>
            <a:off x="642938" y="1668066"/>
            <a:ext cx="21431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D92525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JANGKA PENDEK (HARIAN)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42938" y="1921669"/>
            <a:ext cx="21431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EFISIENSI KOMUNIKASI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2938" y="2305980"/>
            <a:ext cx="21431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Mengurangi penyalinan manual dari grup WhatsApp.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2938" y="2824572"/>
            <a:ext cx="21431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Bukti foto langsung terlampir pada setiap pengajuan.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2938" y="3343163"/>
            <a:ext cx="21431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Status approval jelas tanpa perlu bertanya berulang.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86125" y="1382316"/>
            <a:ext cx="2571750" cy="3332559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13" name="Text 10"/>
          <p:cNvSpPr/>
          <p:nvPr/>
        </p:nvSpPr>
        <p:spPr>
          <a:xfrm>
            <a:off x="642938" y="2305980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9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2938" y="2824572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9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2938" y="3343163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9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00438" y="1668066"/>
            <a:ext cx="21431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D92525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JANGKA MENENGAH (BULANAN)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500438" y="1921669"/>
            <a:ext cx="21431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KONTROL KAS &amp; LEDGER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500438" y="2305980"/>
            <a:ext cx="21431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Ledger otomatis yang mengikuti urutan transaksi.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500438" y="2824572"/>
            <a:ext cx="21431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Rekonsiliasi bulanan mencatat selisih secara transparan.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500438" y="3343163"/>
            <a:ext cx="21431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Pendeteksian dini pengajuan ganda (duplicate flags).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43625" y="1382316"/>
            <a:ext cx="2571750" cy="3332559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22" name="Text 19"/>
          <p:cNvSpPr/>
          <p:nvPr/>
        </p:nvSpPr>
        <p:spPr>
          <a:xfrm>
            <a:off x="3500438" y="2305980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9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500438" y="2824572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9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500438" y="3343163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9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357938" y="1668066"/>
            <a:ext cx="21431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D92525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JANGKA PANJANG (TAHUNAN)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357938" y="1921669"/>
            <a:ext cx="21431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AUDIT &amp; REVIEW STRATEGIS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357938" y="2305980"/>
            <a:ext cx="21431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Arsip PDF per bulan/tahun untuk review manajemen.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357938" y="2824572"/>
            <a:ext cx="2143125" cy="41143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Riwayat pengeluaran per kategori yang mudah dicari.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357938" y="3343163"/>
            <a:ext cx="2143125" cy="61715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Dasar data akurat untuk perencanaan anggaran musim depan.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357938" y="2305980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9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357938" y="2824572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9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357938" y="3343163"/>
            <a:ext cx="1285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9252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144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4" name="Shape 1"/>
          <p:cNvSpPr/>
          <p:nvPr/>
        </p:nvSpPr>
        <p:spPr>
          <a:xfrm>
            <a:off x="8708231" y="285750"/>
            <a:ext cx="7144" cy="142875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571500"/>
            <a:ext cx="828675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NOMOR PENGAJUAN MENYATUKAN BUKTI DAN LAPORAN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28625" y="1239441"/>
            <a:ext cx="3286125" cy="3475434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2132409"/>
            <a:ext cx="2714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9F8F6">
                    <a:alpha val="60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STRUKTUR ID UNIK (WIB)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14375" y="2464594"/>
            <a:ext cx="27146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spc="2" kern="0" dirty="0">
                <a:solidFill>
                  <a:srgbClr val="D92525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PC102026000001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714375" y="3050381"/>
            <a:ext cx="2714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9F8F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PC / RF</a:t>
            </a:r>
            <a:r>
              <a:rPr lang="en-US" sz="950" dirty="0">
                <a:solidFill>
                  <a:srgbClr val="F9F8F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: Kategori Pengajuan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4375" y="3307556"/>
            <a:ext cx="2714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9F8F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102026</a:t>
            </a:r>
            <a:r>
              <a:rPr lang="en-US" sz="950" dirty="0">
                <a:solidFill>
                  <a:srgbClr val="F9F8F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: Bulan &amp; Tahun Pembuatan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4375" y="3564731"/>
            <a:ext cx="2714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00" b="1" dirty="0">
                <a:solidFill>
                  <a:srgbClr val="F9F8F6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000001</a:t>
            </a:r>
            <a:r>
              <a:rPr lang="en-US" sz="950" dirty="0">
                <a:solidFill>
                  <a:srgbClr val="F9F8F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: Nomor Urut Serial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43375" y="1239441"/>
            <a:ext cx="4572000" cy="3475434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13" name="Text 10"/>
          <p:cNvSpPr/>
          <p:nvPr/>
        </p:nvSpPr>
        <p:spPr>
          <a:xfrm>
            <a:off x="4429125" y="1525191"/>
            <a:ext cx="4000500" cy="425053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STANDAR LAPORAN PDF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29125" y="2164556"/>
            <a:ext cx="1285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PETTY CASH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57875" y="2164556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Urutan kronologis ledger dengan running balance yang akurat.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429125" y="2721769"/>
            <a:ext cx="1285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REQUEST FINANCE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57875" y="2721769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Urutan berdasarkan waktu pembuatan untuk monitoring arus kas.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429125" y="3278981"/>
            <a:ext cx="1285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DATA BERSIH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57875" y="3278981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Keterangan dari Keperluan Utama; Lampiran menyertakan link ID.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429125" y="3836194"/>
            <a:ext cx="1285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OTENTIKASI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57875" y="3836194"/>
            <a:ext cx="2571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Dilengkapi slot tanda tangan, stempel klub, dan marker DATA DEMO.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144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4" name="Shape 1"/>
          <p:cNvSpPr/>
          <p:nvPr/>
        </p:nvSpPr>
        <p:spPr>
          <a:xfrm>
            <a:off x="8708231" y="285750"/>
            <a:ext cx="7144" cy="142875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571500"/>
            <a:ext cx="828675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C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KAS LEBIH JELAS, SELISIH TETAP TERLIHAT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28625" y="1239441"/>
            <a:ext cx="3929063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92525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Rekonsiliasi Bulanan Jujur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28625" y="1600200"/>
            <a:ext cx="3929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Sistem tidak mengubah saldo secara diam-diam. Setiap selisih fisik kas dicatat sebagai entitas rekonsiliasi terpisah untuk tinjauan manajemen.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2503103"/>
            <a:ext cx="3929063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92525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Deteksi Duplikasi Cerdas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8625" y="2863862"/>
            <a:ext cx="3929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B192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Flag otomatis muncul jika terdapat pengajuan dengan nominal dan tanggal serupa, memberikan peringatan dini untuk peninjauan manual oleh Manager.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86313" y="1239441"/>
            <a:ext cx="3929063" cy="3475434"/>
          </a:xfrm>
          <a:prstGeom prst="rect">
            <a:avLst/>
          </a:prstGeom>
          <a:solidFill>
            <a:srgbClr val="EFEBE6"/>
          </a:solidFill>
          <a:ln/>
        </p:spPr>
      </p:sp>
      <p:sp>
        <p:nvSpPr>
          <p:cNvPr id="11" name="Shape 8"/>
          <p:cNvSpPr/>
          <p:nvPr/>
        </p:nvSpPr>
        <p:spPr>
          <a:xfrm>
            <a:off x="5072063" y="2182416"/>
            <a:ext cx="1221581" cy="289322"/>
          </a:xfrm>
          <a:prstGeom prst="rect">
            <a:avLst/>
          </a:prstGeom>
          <a:solidFill>
            <a:srgbClr val="0B192C"/>
          </a:solidFill>
          <a:ln/>
        </p:spPr>
      </p:sp>
      <p:sp>
        <p:nvSpPr>
          <p:cNvPr id="12" name="Text 9"/>
          <p:cNvSpPr/>
          <p:nvPr/>
        </p:nvSpPr>
        <p:spPr>
          <a:xfrm>
            <a:off x="5072063" y="2182416"/>
            <a:ext cx="1221581" cy="289322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SISTEM KONTROL AKTIF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72063" y="2614613"/>
            <a:ext cx="33575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0B192C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"Tujuan kami bukan menjamin nol kesalahan manusia, tapi memastikan setiap rupiah memiliki jejak audit yang bisa dipertanggungjawabkan."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72063" y="3357563"/>
            <a:ext cx="3357563" cy="41433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B192C">
                    <a:alpha val="70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Fitur: Konfigurasi Alert, Flag Possible-Duplicate, Laporan Ledger Bulanan.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144"/>
          </a:xfrm>
          <a:prstGeom prst="rect">
            <a:avLst/>
          </a:prstGeom>
          <a:solidFill>
            <a:srgbClr val="D92525"/>
          </a:solidFill>
          <a:ln/>
        </p:spPr>
      </p:sp>
      <p:sp>
        <p:nvSpPr>
          <p:cNvPr id="4" name="Shape 1"/>
          <p:cNvSpPr/>
          <p:nvPr/>
        </p:nvSpPr>
        <p:spPr>
          <a:xfrm>
            <a:off x="8708231" y="285750"/>
            <a:ext cx="7144" cy="142875"/>
          </a:xfrm>
          <a:prstGeom prst="rect">
            <a:avLst/>
          </a:prstGeom>
          <a:solidFill>
            <a:srgbClr val="D9252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714375"/>
            <a:ext cx="8286750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D92525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MULAI DARI PILOT YANG BISA DIBUKTIKAN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21519" y="1875234"/>
            <a:ext cx="3343275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9F8F6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LANGKAH SELANJUTNYA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21519" y="2307431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35831" y="2307431"/>
            <a:ext cx="227885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9F8F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Penetapan PIC Operasional &amp; Finance.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1519" y="2600325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35831" y="2600325"/>
            <a:ext cx="286464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9F8F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Uji coba skenario input transaksi real (1 minggu).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1519" y="2893219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35831" y="2893219"/>
            <a:ext cx="276820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9F8F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Verifikasi sinkronisasi Dropbox &amp; PDF Laporan.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21519" y="3186113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35831" y="3186113"/>
            <a:ext cx="30575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9F8F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Evaluasi kenyamanan penggunaan di perangkat HP.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86313" y="1582341"/>
            <a:ext cx="392906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9F8F6">
                    <a:alpha val="90000"/>
                  </a:srgbClr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Kami mengundang manajemen Pangsuma FC untuk melakukan validasi alur peran, pengelolaan saldo, dan tata kelola bukti secara langsung dalam lingkungan terkontrol sebelum keputusan rollout penuh diambil.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86313" y="2711053"/>
            <a:ext cx="39290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2525"/>
                </a:solidFill>
                <a:latin typeface="Public Sans Bold" pitchFamily="34" charset="0"/>
                <a:ea typeface="Public Sans Bold" pitchFamily="34" charset="-122"/>
                <a:cs typeface="Public Sans Bold" pitchFamily="34" charset="-120"/>
              </a:rPr>
              <a:t>Keputusan manajemen hari ini adalah dasar audit hari esok.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8625" y="4546997"/>
            <a:ext cx="828675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spc="1" kern="0" dirty="0">
                <a:solidFill>
                  <a:srgbClr val="F9F8F6"/>
                </a:solidFill>
                <a:latin typeface="Oswald Bold" pitchFamily="34" charset="0"/>
                <a:ea typeface="Oswald Bold" pitchFamily="34" charset="-122"/>
                <a:cs typeface="Oswald Bold" pitchFamily="34" charset="-120"/>
              </a:rPr>
              <a:t>PANGSUMA FC · OPERATIONAL FINANCE PROPOSAL ·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2026-10-19T19:54:41Z</dcterms:created>
  <dcterms:modified xsi:type="dcterms:W3CDTF">2026-10-19T19:54:41Z</dcterms:modified>
</cp:coreProperties>
</file>